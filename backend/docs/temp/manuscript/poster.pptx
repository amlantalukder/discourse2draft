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92608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/>
    <p:restoredTop sz="94703"/>
  </p:normalViewPr>
  <p:slideViewPr>
    <p:cSldViewPr snapToGrid="0">
      <p:cViewPr varScale="1">
        <p:scale>
          <a:sx n="64" d="100"/>
          <a:sy n="6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BB763-AC8E-7C4D-AF1B-06AD32179AC9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FFE3A-F3AD-0840-ABB3-8CD92C84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6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FE3A-F3AD-0840-ABB3-8CD92C8427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0" y="2693671"/>
            <a:ext cx="2194560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8644893"/>
            <a:ext cx="219456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53" indent="0" algn="ctr">
              <a:buNone/>
              <a:defRPr sz="4800"/>
            </a:lvl2pPr>
            <a:lvl3pPr marL="2194505" indent="0" algn="ctr">
              <a:buNone/>
              <a:defRPr sz="4320"/>
            </a:lvl3pPr>
            <a:lvl4pPr marL="3291758" indent="0" algn="ctr">
              <a:buNone/>
              <a:defRPr sz="3840"/>
            </a:lvl4pPr>
            <a:lvl5pPr marL="4389010" indent="0" algn="ctr">
              <a:buNone/>
              <a:defRPr sz="3840"/>
            </a:lvl5pPr>
            <a:lvl6pPr marL="5486263" indent="0" algn="ctr">
              <a:buNone/>
              <a:defRPr sz="3840"/>
            </a:lvl6pPr>
            <a:lvl7pPr marL="6583515" indent="0" algn="ctr">
              <a:buNone/>
              <a:defRPr sz="3840"/>
            </a:lvl7pPr>
            <a:lvl8pPr marL="7680768" indent="0" algn="ctr">
              <a:buNone/>
              <a:defRPr sz="3840"/>
            </a:lvl8pPr>
            <a:lvl9pPr marL="8778021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440" y="4103374"/>
            <a:ext cx="2523744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6440" y="11014714"/>
            <a:ext cx="2523744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53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05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758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01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263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515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768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021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6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1680" y="4381502"/>
            <a:ext cx="124358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13280" y="4381502"/>
            <a:ext cx="1243584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9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876303"/>
            <a:ext cx="2523744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493" y="4034793"/>
            <a:ext cx="12378689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53" indent="0">
              <a:buNone/>
              <a:defRPr sz="4800" b="1"/>
            </a:lvl2pPr>
            <a:lvl3pPr marL="2194505" indent="0">
              <a:buNone/>
              <a:defRPr sz="4320" b="1"/>
            </a:lvl3pPr>
            <a:lvl4pPr marL="3291758" indent="0">
              <a:buNone/>
              <a:defRPr sz="3840" b="1"/>
            </a:lvl4pPr>
            <a:lvl5pPr marL="4389010" indent="0">
              <a:buNone/>
              <a:defRPr sz="3840" b="1"/>
            </a:lvl5pPr>
            <a:lvl6pPr marL="5486263" indent="0">
              <a:buNone/>
              <a:defRPr sz="3840" b="1"/>
            </a:lvl6pPr>
            <a:lvl7pPr marL="6583515" indent="0">
              <a:buNone/>
              <a:defRPr sz="3840" b="1"/>
            </a:lvl7pPr>
            <a:lvl8pPr marL="7680768" indent="0">
              <a:buNone/>
              <a:defRPr sz="3840" b="1"/>
            </a:lvl8pPr>
            <a:lvl9pPr marL="8778021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5493" y="6012182"/>
            <a:ext cx="12378689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13281" y="4034793"/>
            <a:ext cx="12439651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53" indent="0">
              <a:buNone/>
              <a:defRPr sz="4800" b="1"/>
            </a:lvl2pPr>
            <a:lvl3pPr marL="2194505" indent="0">
              <a:buNone/>
              <a:defRPr sz="4320" b="1"/>
            </a:lvl3pPr>
            <a:lvl4pPr marL="3291758" indent="0">
              <a:buNone/>
              <a:defRPr sz="3840" b="1"/>
            </a:lvl4pPr>
            <a:lvl5pPr marL="4389010" indent="0">
              <a:buNone/>
              <a:defRPr sz="3840" b="1"/>
            </a:lvl5pPr>
            <a:lvl6pPr marL="5486263" indent="0">
              <a:buNone/>
              <a:defRPr sz="3840" b="1"/>
            </a:lvl6pPr>
            <a:lvl7pPr marL="6583515" indent="0">
              <a:buNone/>
              <a:defRPr sz="3840" b="1"/>
            </a:lvl7pPr>
            <a:lvl8pPr marL="7680768" indent="0">
              <a:buNone/>
              <a:defRPr sz="3840" b="1"/>
            </a:lvl8pPr>
            <a:lvl9pPr marL="8778021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13281" y="6012182"/>
            <a:ext cx="12439651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1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4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3" y="1097280"/>
            <a:ext cx="9437369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9651" y="2369821"/>
            <a:ext cx="14813280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3" y="4937762"/>
            <a:ext cx="9437369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53" indent="0">
              <a:buNone/>
              <a:defRPr sz="3360"/>
            </a:lvl2pPr>
            <a:lvl3pPr marL="2194505" indent="0">
              <a:buNone/>
              <a:defRPr sz="2880"/>
            </a:lvl3pPr>
            <a:lvl4pPr marL="3291758" indent="0">
              <a:buNone/>
              <a:defRPr sz="2400"/>
            </a:lvl4pPr>
            <a:lvl5pPr marL="4389010" indent="0">
              <a:buNone/>
              <a:defRPr sz="2400"/>
            </a:lvl5pPr>
            <a:lvl6pPr marL="5486263" indent="0">
              <a:buNone/>
              <a:defRPr sz="2400"/>
            </a:lvl6pPr>
            <a:lvl7pPr marL="6583515" indent="0">
              <a:buNone/>
              <a:defRPr sz="2400"/>
            </a:lvl7pPr>
            <a:lvl8pPr marL="7680768" indent="0">
              <a:buNone/>
              <a:defRPr sz="2400"/>
            </a:lvl8pPr>
            <a:lvl9pPr marL="8778021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2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3" y="1097280"/>
            <a:ext cx="9437369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39651" y="2369821"/>
            <a:ext cx="14813280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53" indent="0">
              <a:buNone/>
              <a:defRPr sz="6720"/>
            </a:lvl2pPr>
            <a:lvl3pPr marL="2194505" indent="0">
              <a:buNone/>
              <a:defRPr sz="5760"/>
            </a:lvl3pPr>
            <a:lvl4pPr marL="3291758" indent="0">
              <a:buNone/>
              <a:defRPr sz="4800"/>
            </a:lvl4pPr>
            <a:lvl5pPr marL="4389010" indent="0">
              <a:buNone/>
              <a:defRPr sz="4800"/>
            </a:lvl5pPr>
            <a:lvl6pPr marL="5486263" indent="0">
              <a:buNone/>
              <a:defRPr sz="4800"/>
            </a:lvl6pPr>
            <a:lvl7pPr marL="6583515" indent="0">
              <a:buNone/>
              <a:defRPr sz="4800"/>
            </a:lvl7pPr>
            <a:lvl8pPr marL="7680768" indent="0">
              <a:buNone/>
              <a:defRPr sz="4800"/>
            </a:lvl8pPr>
            <a:lvl9pPr marL="8778021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3" y="4937762"/>
            <a:ext cx="9437369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53" indent="0">
              <a:buNone/>
              <a:defRPr sz="3360"/>
            </a:lvl2pPr>
            <a:lvl3pPr marL="2194505" indent="0">
              <a:buNone/>
              <a:defRPr sz="2880"/>
            </a:lvl3pPr>
            <a:lvl4pPr marL="3291758" indent="0">
              <a:buNone/>
              <a:defRPr sz="2400"/>
            </a:lvl4pPr>
            <a:lvl5pPr marL="4389010" indent="0">
              <a:buNone/>
              <a:defRPr sz="2400"/>
            </a:lvl5pPr>
            <a:lvl6pPr marL="5486263" indent="0">
              <a:buNone/>
              <a:defRPr sz="2400"/>
            </a:lvl6pPr>
            <a:lvl7pPr marL="6583515" indent="0">
              <a:buNone/>
              <a:defRPr sz="2400"/>
            </a:lvl7pPr>
            <a:lvl8pPr marL="7680768" indent="0">
              <a:buNone/>
              <a:defRPr sz="2400"/>
            </a:lvl8pPr>
            <a:lvl9pPr marL="8778021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3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5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39760" y="876302"/>
            <a:ext cx="630936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1680" y="876302"/>
            <a:ext cx="18562320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876303"/>
            <a:ext cx="2523744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4381502"/>
            <a:ext cx="2523744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15255241"/>
            <a:ext cx="65836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9B1FF-2DE5-5847-A64D-20B5FD674F1C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92640" y="15255241"/>
            <a:ext cx="987552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65440" y="15255241"/>
            <a:ext cx="658368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CB13D-730C-4D4F-BBF2-7B18F7FD4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5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05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26" indent="-548626" algn="l" defTabSz="219450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879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131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384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637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4889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142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394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647" indent="-548626" algn="l" defTabSz="2194505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53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05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758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10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263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515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768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021" algn="l" defTabSz="219450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rstudio.niehs.nih.gov/word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CC1225-07E1-CC1D-7FD4-38628265F800}"/>
              </a:ext>
            </a:extLst>
          </p:cNvPr>
          <p:cNvSpPr/>
          <p:nvPr/>
        </p:nvSpPr>
        <p:spPr>
          <a:xfrm>
            <a:off x="12357" y="1"/>
            <a:ext cx="29233368" cy="319434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b="1" cap="all" dirty="0">
                <a:solidFill>
                  <a:srgbClr val="FFFFFF"/>
                </a:solidFill>
                <a:latin typeface="Bangla907"/>
              </a:rPr>
              <a:t>NIH RESEARCH FESTIVAL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58132-B6B2-2DB2-7B73-24C1F30AC640}"/>
              </a:ext>
            </a:extLst>
          </p:cNvPr>
          <p:cNvSpPr/>
          <p:nvPr/>
        </p:nvSpPr>
        <p:spPr>
          <a:xfrm>
            <a:off x="26060397" y="-8502"/>
            <a:ext cx="3200403" cy="3224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C18FD-AE04-F5B4-394C-D10CC115303B}"/>
              </a:ext>
            </a:extLst>
          </p:cNvPr>
          <p:cNvSpPr txBox="1"/>
          <p:nvPr/>
        </p:nvSpPr>
        <p:spPr>
          <a:xfrm>
            <a:off x="3246862" y="164732"/>
            <a:ext cx="22813535" cy="9202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kern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Discourse2Draft - An AI powered app to help write documents with hierarchical outline and references</a:t>
            </a:r>
            <a:endParaRPr lang="en-US" sz="4000" b="1" dirty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BBCCD-A19A-8F5A-0D7A-BD81D1770A61}"/>
              </a:ext>
            </a:extLst>
          </p:cNvPr>
          <p:cNvSpPr txBox="1"/>
          <p:nvPr/>
        </p:nvSpPr>
        <p:spPr>
          <a:xfrm>
            <a:off x="9646349" y="1336169"/>
            <a:ext cx="9947659" cy="1830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Amlan Talukder</a:t>
            </a:r>
            <a:r>
              <a:rPr lang="en-US" sz="2600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Trey Saddler</a:t>
            </a:r>
            <a:r>
              <a:rPr lang="en-US" sz="2600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Charles Schmitt</a:t>
            </a:r>
            <a:r>
              <a:rPr lang="en-US" sz="2600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Scott Auerbach</a:t>
            </a:r>
            <a:r>
              <a:rPr lang="en-US" sz="2600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algn="ctr">
              <a:lnSpc>
                <a:spcPct val="150000"/>
              </a:lnSpc>
            </a:pPr>
            <a:r>
              <a:rPr lang="en-US" sz="2600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of Data Science, NIEHS</a:t>
            </a:r>
          </a:p>
          <a:p>
            <a:pPr algn="ctr">
              <a:lnSpc>
                <a:spcPct val="150000"/>
              </a:lnSpc>
            </a:pPr>
            <a:r>
              <a:rPr lang="en-US" sz="2600" baseline="30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Toxicology Branch, Division of Translational Toxicology, NIEHS</a:t>
            </a:r>
          </a:p>
        </p:txBody>
      </p:sp>
      <p:pic>
        <p:nvPicPr>
          <p:cNvPr id="9" name="Picture 2" descr="NIEHS - YouTube">
            <a:extLst>
              <a:ext uri="{FF2B5EF4-FFF2-40B4-BE49-F238E27FC236}">
                <a16:creationId xmlns:a16="http://schemas.microsoft.com/office/drawing/2014/main" id="{C16C2E37-10CD-0108-9CC8-7E66EA24EC1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" y="-18389"/>
            <a:ext cx="3246863" cy="324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2126DA-8C59-8478-0C07-F75CD65392E7}"/>
              </a:ext>
            </a:extLst>
          </p:cNvPr>
          <p:cNvSpPr txBox="1"/>
          <p:nvPr/>
        </p:nvSpPr>
        <p:spPr>
          <a:xfrm>
            <a:off x="25949562" y="858511"/>
            <a:ext cx="3224785" cy="1364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cap="all" dirty="0">
                <a:latin typeface="Calibri" panose="020F0502020204030204" pitchFamily="34" charset="0"/>
                <a:cs typeface="Calibri" panose="020F0502020204030204" pitchFamily="34" charset="0"/>
              </a:rPr>
              <a:t>NIEHS SCIENCE DAY, 2025</a:t>
            </a:r>
          </a:p>
          <a:p>
            <a:pPr algn="ctr"/>
            <a:endParaRPr lang="en-US" sz="1067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98F21C-419C-EC38-5CF5-07C4360C050D}"/>
              </a:ext>
            </a:extLst>
          </p:cNvPr>
          <p:cNvSpPr/>
          <p:nvPr/>
        </p:nvSpPr>
        <p:spPr>
          <a:xfrm>
            <a:off x="382315" y="3370510"/>
            <a:ext cx="14163679" cy="5881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Discourse2Draft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D3956AA-FA92-F870-803E-1924BF8789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722" y="10259229"/>
            <a:ext cx="10206444" cy="573828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664CC3E-8985-329D-2395-7C2DAA223A49}"/>
              </a:ext>
            </a:extLst>
          </p:cNvPr>
          <p:cNvSpPr/>
          <p:nvPr/>
        </p:nvSpPr>
        <p:spPr>
          <a:xfrm>
            <a:off x="382315" y="6275476"/>
            <a:ext cx="10790510" cy="979681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950177-4517-B7D3-59A9-6D840C5B0086}"/>
              </a:ext>
            </a:extLst>
          </p:cNvPr>
          <p:cNvSpPr/>
          <p:nvPr/>
        </p:nvSpPr>
        <p:spPr>
          <a:xfrm>
            <a:off x="390276" y="6284912"/>
            <a:ext cx="10770192" cy="7713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Behind the scene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9D18BE-D4D1-99F9-3FAD-FEED5D3E45CC}"/>
              </a:ext>
            </a:extLst>
          </p:cNvPr>
          <p:cNvSpPr/>
          <p:nvPr/>
        </p:nvSpPr>
        <p:spPr>
          <a:xfrm>
            <a:off x="11262178" y="6275475"/>
            <a:ext cx="17616307" cy="979681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5E0E7-1222-DA34-9201-5C5115735785}"/>
              </a:ext>
            </a:extLst>
          </p:cNvPr>
          <p:cNvSpPr/>
          <p:nvPr/>
        </p:nvSpPr>
        <p:spPr>
          <a:xfrm>
            <a:off x="11268210" y="6284911"/>
            <a:ext cx="17602200" cy="7713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(</a:t>
            </a:r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https://rstudio.niehs.nih.gov/word</a:t>
            </a:r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0602D5-3DBE-48BD-072D-4BE4147CE08C}"/>
              </a:ext>
            </a:extLst>
          </p:cNvPr>
          <p:cNvSpPr/>
          <p:nvPr/>
        </p:nvSpPr>
        <p:spPr>
          <a:xfrm>
            <a:off x="372794" y="3364058"/>
            <a:ext cx="14173200" cy="282527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63206B-48DA-CB69-BDBC-A84A8E4312E8}"/>
              </a:ext>
            </a:extLst>
          </p:cNvPr>
          <p:cNvSpPr/>
          <p:nvPr/>
        </p:nvSpPr>
        <p:spPr>
          <a:xfrm>
            <a:off x="14639137" y="3370574"/>
            <a:ext cx="14218920" cy="588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40DEFB-5370-8CAF-B291-A4B2D5634773}"/>
              </a:ext>
            </a:extLst>
          </p:cNvPr>
          <p:cNvSpPr/>
          <p:nvPr/>
        </p:nvSpPr>
        <p:spPr>
          <a:xfrm>
            <a:off x="14630400" y="3364058"/>
            <a:ext cx="14228901" cy="282534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388C904-F893-CCDD-01AD-8472A5593B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83935" y="7056264"/>
            <a:ext cx="5159977" cy="322644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C4C7E2E-8EC9-E1F2-57A3-FF3FB71ED15C}"/>
              </a:ext>
            </a:extLst>
          </p:cNvPr>
          <p:cNvSpPr txBox="1"/>
          <p:nvPr/>
        </p:nvSpPr>
        <p:spPr>
          <a:xfrm>
            <a:off x="14770064" y="4004147"/>
            <a:ext cx="74597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Content Generation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 AI base models from different providers: OpenAI, Google, Anthropic, Meta and Mistral.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Generate document content with customized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Regenerate paragraphs with revised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Extract and cite content from user provided documents and/or from literature databases (e.g.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pubmed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35636E-0EAC-C265-E37D-CCF8C0C67349}"/>
              </a:ext>
            </a:extLst>
          </p:cNvPr>
          <p:cNvSpPr txBox="1"/>
          <p:nvPr/>
        </p:nvSpPr>
        <p:spPr>
          <a:xfrm>
            <a:off x="22730491" y="4028861"/>
            <a:ext cx="60731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Document Management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Keep track of generated files in individual profile.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Upload documents in multiple text formats: PDF, DOCX and 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Download document in various formats (.md, .docx,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Download bibliography of the cited sources in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bibtex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format.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F9A4E5-BF1C-BD4D-DED8-5FD9382C6712}"/>
              </a:ext>
            </a:extLst>
          </p:cNvPr>
          <p:cNvSpPr txBox="1"/>
          <p:nvPr/>
        </p:nvSpPr>
        <p:spPr>
          <a:xfrm>
            <a:off x="524117" y="4144028"/>
            <a:ext cx="13889810" cy="1877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Although numerous AI tools are being created every day that can be used to create structured content on a given topic, most of these tools suffer from issues of hallucination and lack of authentication.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Discourse2Draft is an AI powered app to generate structured content for research manuscripts from a user provided topic (with optional context) with the ability to gather literature references in user intended format.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 terms of usability, Discouse2Draft can wear many hats, such as scientific report generation, research proposal generation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, manuscript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writing, literature search or generation of content for any types of topic that has a user (or AI) provided structured outline.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 addition, user can manage generated contents and download contents and bibliography in multiple formats.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14A989B-03B1-3F98-1080-92BF60D912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4534" y="7072096"/>
            <a:ext cx="17593853" cy="897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6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6382</TotalTime>
  <Words>306</Words>
  <Application>Microsoft Macintosh PowerPoint</Application>
  <PresentationFormat>Custom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Bangla907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Talukder, Amlan (NIH/NIEHS) [C]</dc:creator>
  <cp:lastModifiedBy>Talukder, Amlan (NIH/NIEHS) [C]</cp:lastModifiedBy>
  <cp:revision>16</cp:revision>
  <dcterms:created xsi:type="dcterms:W3CDTF">2025-07-21T15:52:43Z</dcterms:created>
  <dcterms:modified xsi:type="dcterms:W3CDTF">2025-08-12T18:17:08Z</dcterms:modified>
</cp:coreProperties>
</file>